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77" r:id="rId3"/>
    <p:sldId id="257" r:id="rId4"/>
    <p:sldId id="258" r:id="rId5"/>
    <p:sldId id="259" r:id="rId6"/>
    <p:sldId id="260" r:id="rId7"/>
    <p:sldId id="261" r:id="rId8"/>
    <p:sldId id="262" r:id="rId9"/>
    <p:sldId id="263" r:id="rId10"/>
    <p:sldId id="264" r:id="rId11"/>
    <p:sldId id="273" r:id="rId12"/>
    <p:sldId id="274" r:id="rId13"/>
    <p:sldId id="275" r:id="rId14"/>
    <p:sldId id="276" r:id="rId15"/>
    <p:sldId id="267" r:id="rId16"/>
    <p:sldId id="268" r:id="rId17"/>
    <p:sldId id="269" r:id="rId18"/>
    <p:sldId id="270" r:id="rId19"/>
    <p:sldId id="265" r:id="rId20"/>
    <p:sldId id="26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4E6D5A6-9320-4ECD-A13A-9F75A8AD7890}" type="datetimeFigureOut">
              <a:rPr lang="en-IN" smtClean="0"/>
              <a:t>06-02-2026</a:t>
            </a:fld>
            <a:endParaRPr lang="en-IN"/>
          </a:p>
        </p:txBody>
      </p:sp>
      <p:sp>
        <p:nvSpPr>
          <p:cNvPr id="19" name="Footer Placeholder 18"/>
          <p:cNvSpPr>
            <a:spLocks noGrp="1"/>
          </p:cNvSpPr>
          <p:nvPr>
            <p:ph type="ftr" sz="quarter" idx="11"/>
          </p:nvPr>
        </p:nvSpPr>
        <p:spPr/>
        <p:txBody>
          <a:bodyPr/>
          <a:lstStyle/>
          <a:p>
            <a:endParaRPr lang="en-IN"/>
          </a:p>
        </p:txBody>
      </p:sp>
      <p:sp>
        <p:nvSpPr>
          <p:cNvPr id="27" name="Slide Number Placeholder 26"/>
          <p:cNvSpPr>
            <a:spLocks noGrp="1"/>
          </p:cNvSpPr>
          <p:nvPr>
            <p:ph type="sldNum" sz="quarter" idx="12"/>
          </p:nvPr>
        </p:nvSpPr>
        <p:spPr/>
        <p:txBody>
          <a:bodyPr/>
          <a:lstStyle/>
          <a:p>
            <a:fld id="{A0606E65-50FA-4A06-AE9F-9D350FC2FBD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4E6D5A6-9320-4ECD-A13A-9F75A8AD7890}"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606E65-50FA-4A06-AE9F-9D350FC2FBD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4E6D5A6-9320-4ECD-A13A-9F75A8AD7890}"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606E65-50FA-4A06-AE9F-9D350FC2FBD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4E6D5A6-9320-4ECD-A13A-9F75A8AD7890}"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606E65-50FA-4A06-AE9F-9D350FC2FBD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4E6D5A6-9320-4ECD-A13A-9F75A8AD7890}" type="datetimeFigureOut">
              <a:rPr lang="en-IN" smtClean="0"/>
              <a:t>06-02-2026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606E65-50FA-4A06-AE9F-9D350FC2FBD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4E6D5A6-9320-4ECD-A13A-9F75A8AD7890}" type="datetimeFigureOut">
              <a:rPr lang="en-IN" smtClean="0"/>
              <a:t>06-02-2026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606E65-50FA-4A06-AE9F-9D350FC2FBD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6D5A6-9320-4ECD-A13A-9F75A8AD7890}" type="datetimeFigureOut">
              <a:rPr lang="en-IN" smtClean="0"/>
              <a:t>06-02-2026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0606E65-50FA-4A06-AE9F-9D350FC2FBD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4E6D5A6-9320-4ECD-A13A-9F75A8AD7890}"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606E65-50FA-4A06-AE9F-9D350FC2FBD5}"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4E6D5A6-9320-4ECD-A13A-9F75A8AD7890}"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077200" y="6356350"/>
            <a:ext cx="609600" cy="365125"/>
          </a:xfrm>
        </p:spPr>
        <p:txBody>
          <a:bodyPr/>
          <a:lstStyle/>
          <a:p>
            <a:fld id="{A0606E65-50FA-4A06-AE9F-9D350FC2FBD5}" type="slidenum">
              <a:rPr lang="en-IN" smtClean="0"/>
              <a:t>‹#›</a:t>
            </a:fld>
            <a:endParaRPr lang="en-IN"/>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4E6D5A6-9320-4ECD-A13A-9F75A8AD7890}"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606E65-50FA-4A06-AE9F-9D350FC2FBD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4E6D5A6-9320-4ECD-A13A-9F75A8AD7890}"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606E65-50FA-4A06-AE9F-9D350FC2FBD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4E6D5A6-9320-4ECD-A13A-9F75A8AD7890}" type="datetimeFigureOut">
              <a:rPr lang="en-IN" smtClean="0"/>
              <a:t>06-02-2026</a:t>
            </a:fld>
            <a:endParaRPr lang="en-I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A0606E65-50FA-4A06-AE9F-9D350FC2FBD5}" type="slidenum">
              <a:rPr lang="en-IN" smtClean="0"/>
              <a:t>‹#›</a:t>
            </a:fld>
            <a:endParaRPr lang="en-IN"/>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5000"/>
            <a:lum/>
          </a:blip>
          <a:srcRect/>
          <a:stretch>
            <a:fillRect l="-1000" r="-4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92696"/>
            <a:ext cx="7851648" cy="1512168"/>
          </a:xfrm>
        </p:spPr>
        <p:txBody>
          <a:bodyPr>
            <a:normAutofit fontScale="90000"/>
          </a:bodyPr>
          <a:lstStyle/>
          <a:p>
            <a:pPr algn="ctr"/>
            <a:r>
              <a:rPr lang="en-IN" sz="3600" dirty="0" smtClean="0"/>
              <a:t/>
            </a:r>
            <a:br>
              <a:rPr lang="en-IN" sz="3600" dirty="0" smtClean="0"/>
            </a:br>
            <a:r>
              <a:rPr lang="en-IN" sz="3600" dirty="0" smtClean="0"/>
              <a:t>TVS EMPLOYEE PERFROMANCE AND JOB SATISFATION IN HR ANALYSIS</a:t>
            </a:r>
            <a:br>
              <a:rPr lang="en-IN" sz="3600" dirty="0" smtClean="0"/>
            </a:br>
            <a:r>
              <a:rPr lang="en-IN" sz="3600" dirty="0" smtClean="0"/>
              <a:t>DASHBOARD</a:t>
            </a:r>
            <a:endParaRPr lang="en-IN" sz="3600" b="1"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533400" y="4077072"/>
            <a:ext cx="7854696" cy="2088232"/>
          </a:xfrm>
        </p:spPr>
        <p:txBody>
          <a:bodyPr/>
          <a:lstStyle/>
          <a:p>
            <a:pPr algn="ctr"/>
            <a:r>
              <a:rPr lang="en-US" dirty="0" smtClean="0">
                <a:solidFill>
                  <a:srgbClr val="C00000"/>
                </a:solidFill>
                <a:latin typeface="Times New Roman" pitchFamily="18" charset="0"/>
                <a:cs typeface="Times New Roman" pitchFamily="18" charset="0"/>
              </a:rPr>
              <a:t>PRESENTATION BY:</a:t>
            </a:r>
          </a:p>
          <a:p>
            <a:pPr algn="ctr"/>
            <a:r>
              <a:rPr lang="en-US" dirty="0" smtClean="0">
                <a:solidFill>
                  <a:srgbClr val="C00000"/>
                </a:solidFill>
                <a:latin typeface="Times New Roman" pitchFamily="18" charset="0"/>
                <a:cs typeface="Times New Roman" pitchFamily="18" charset="0"/>
              </a:rPr>
              <a:t>                                                        PRIYADHARSHINI.K</a:t>
            </a:r>
            <a:endParaRPr lang="en-IN"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20833515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2132856"/>
            <a:ext cx="8229600" cy="4389120"/>
          </a:xfrm>
        </p:spPr>
        <p:txBody>
          <a:bodyPr/>
          <a:lstStyle/>
          <a:p>
            <a:pPr algn="ctr"/>
            <a:r>
              <a:rPr lang="en-IN" sz="2800" b="1" dirty="0">
                <a:latin typeface="Times New Roman" pitchFamily="18" charset="0"/>
                <a:cs typeface="Times New Roman" pitchFamily="18" charset="0"/>
              </a:rPr>
              <a:t/>
            </a:r>
            <a:br>
              <a:rPr lang="en-IN" sz="2800" b="1" dirty="0">
                <a:latin typeface="Times New Roman" pitchFamily="18" charset="0"/>
                <a:cs typeface="Times New Roman" pitchFamily="18" charset="0"/>
              </a:rPr>
            </a:br>
            <a:endParaRPr lang="en-US" sz="2800" b="1" dirty="0" smtClean="0">
              <a:latin typeface="Times New Roman" pitchFamily="18" charset="0"/>
              <a:cs typeface="Times New Roman" pitchFamily="18" charset="0"/>
            </a:endParaRPr>
          </a:p>
          <a:p>
            <a:endParaRPr lang="en-IN" dirty="0"/>
          </a:p>
        </p:txBody>
      </p:sp>
      <p:sp>
        <p:nvSpPr>
          <p:cNvPr id="7" name="Title 6"/>
          <p:cNvSpPr>
            <a:spLocks noGrp="1"/>
          </p:cNvSpPr>
          <p:nvPr>
            <p:ph type="title"/>
          </p:nvPr>
        </p:nvSpPr>
        <p:spPr>
          <a:xfrm>
            <a:off x="457200" y="704088"/>
            <a:ext cx="7067128" cy="492664"/>
          </a:xfrm>
        </p:spPr>
        <p:txBody>
          <a:bodyPr>
            <a:noAutofit/>
          </a:bodyPr>
          <a:lstStyle/>
          <a:p>
            <a:pPr algn="ctr"/>
            <a:r>
              <a:rPr lang="en-US" sz="3600" b="1" dirty="0" smtClean="0">
                <a:latin typeface="Times New Roman" pitchFamily="18" charset="0"/>
                <a:cs typeface="Times New Roman" pitchFamily="18" charset="0"/>
              </a:rPr>
              <a:t>CONTENTS</a:t>
            </a:r>
            <a:endParaRPr lang="en-IN" sz="3600" b="1" dirty="0">
              <a:latin typeface="Times New Roman" pitchFamily="18" charset="0"/>
              <a:cs typeface="Times New Roman"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57436953"/>
              </p:ext>
            </p:extLst>
          </p:nvPr>
        </p:nvGraphicFramePr>
        <p:xfrm>
          <a:off x="1524000" y="1432560"/>
          <a:ext cx="6096000" cy="5029200"/>
        </p:xfrm>
        <a:graphic>
          <a:graphicData uri="http://schemas.openxmlformats.org/drawingml/2006/table">
            <a:tbl>
              <a:tblPr firstRow="1" bandRow="1">
                <a:tableStyleId>{5C22544A-7EE6-4342-B048-85BDC9FD1C3A}</a:tableStyleId>
              </a:tblPr>
              <a:tblGrid>
                <a:gridCol w="3048000"/>
                <a:gridCol w="3048000"/>
              </a:tblGrid>
              <a:tr h="272934">
                <a:tc>
                  <a:txBody>
                    <a:bodyPr/>
                    <a:lstStyle/>
                    <a:p>
                      <a:pPr algn="l"/>
                      <a:r>
                        <a:rPr lang="en-US" sz="1800" dirty="0" smtClean="0">
                          <a:latin typeface="Times New Roman" pitchFamily="18" charset="0"/>
                          <a:cs typeface="Times New Roman" pitchFamily="18" charset="0"/>
                        </a:rPr>
                        <a:t>TABLE NUMBER</a:t>
                      </a:r>
                      <a:endParaRPr lang="en-IN" sz="1800" dirty="0">
                        <a:latin typeface="Times New Roman" pitchFamily="18" charset="0"/>
                        <a:cs typeface="Times New Roman" pitchFamily="18" charset="0"/>
                      </a:endParaRPr>
                    </a:p>
                  </a:txBody>
                  <a:tcPr/>
                </a:tc>
                <a:tc>
                  <a:txBody>
                    <a:bodyPr/>
                    <a:lstStyle/>
                    <a:p>
                      <a:pPr algn="l"/>
                      <a:r>
                        <a:rPr lang="en-US" sz="1800" dirty="0" smtClean="0">
                          <a:latin typeface="Times New Roman" pitchFamily="18" charset="0"/>
                          <a:cs typeface="Times New Roman" pitchFamily="18" charset="0"/>
                        </a:rPr>
                        <a:t>PARTICULARS</a:t>
                      </a:r>
                      <a:endParaRPr lang="en-IN" sz="1800" dirty="0">
                        <a:latin typeface="Times New Roman" pitchFamily="18" charset="0"/>
                        <a:cs typeface="Times New Roman" pitchFamily="18" charset="0"/>
                      </a:endParaRPr>
                    </a:p>
                  </a:txBody>
                  <a:tcPr/>
                </a:tc>
              </a:tr>
              <a:tr h="272934">
                <a:tc>
                  <a:txBody>
                    <a:bodyPr/>
                    <a:lstStyle/>
                    <a:p>
                      <a:pPr marL="0" indent="0" algn="l">
                        <a:buFont typeface="+mj-lt"/>
                        <a:buNone/>
                      </a:pPr>
                      <a:r>
                        <a:rPr lang="en-US" sz="1800" dirty="0" smtClean="0">
                          <a:latin typeface="Times New Roman" pitchFamily="18" charset="0"/>
                          <a:cs typeface="Times New Roman" pitchFamily="18" charset="0"/>
                        </a:rPr>
                        <a:t>1</a:t>
                      </a:r>
                      <a:endParaRPr lang="en-IN" sz="1800" dirty="0">
                        <a:latin typeface="Times New Roman" pitchFamily="18" charset="0"/>
                        <a:cs typeface="Times New Roman" pitchFamily="18" charset="0"/>
                      </a:endParaRPr>
                    </a:p>
                  </a:txBody>
                  <a:tcPr/>
                </a:tc>
                <a:tc>
                  <a:txBody>
                    <a:bodyPr/>
                    <a:lstStyle/>
                    <a:p>
                      <a:pPr algn="l"/>
                      <a:r>
                        <a:rPr lang="en-US" sz="1800" dirty="0" smtClean="0">
                          <a:latin typeface="Times New Roman" pitchFamily="18" charset="0"/>
                          <a:cs typeface="Times New Roman" pitchFamily="18" charset="0"/>
                        </a:rPr>
                        <a:t>INTRODUCTION</a:t>
                      </a:r>
                      <a:endParaRPr lang="en-IN" sz="1800" dirty="0">
                        <a:latin typeface="Times New Roman" pitchFamily="18" charset="0"/>
                        <a:cs typeface="Times New Roman" pitchFamily="18" charset="0"/>
                      </a:endParaRPr>
                    </a:p>
                  </a:txBody>
                  <a:tcPr/>
                </a:tc>
              </a:tr>
              <a:tr h="272934">
                <a:tc>
                  <a:txBody>
                    <a:bodyPr/>
                    <a:lstStyle/>
                    <a:p>
                      <a:pPr algn="l"/>
                      <a:r>
                        <a:rPr lang="en-US" sz="1800" dirty="0" smtClean="0">
                          <a:latin typeface="Times New Roman" pitchFamily="18" charset="0"/>
                          <a:cs typeface="Times New Roman" pitchFamily="18" charset="0"/>
                        </a:rPr>
                        <a:t>2</a:t>
                      </a:r>
                      <a:endParaRPr lang="en-IN" sz="1800" dirty="0">
                        <a:latin typeface="Times New Roman" pitchFamily="18" charset="0"/>
                        <a:cs typeface="Times New Roman" pitchFamily="18" charset="0"/>
                      </a:endParaRPr>
                    </a:p>
                  </a:txBody>
                  <a:tcPr/>
                </a:tc>
                <a:tc>
                  <a:txBody>
                    <a:bodyPr/>
                    <a:lstStyle/>
                    <a:p>
                      <a:pPr algn="l"/>
                      <a:r>
                        <a:rPr lang="en-US" sz="1800" dirty="0" smtClean="0">
                          <a:latin typeface="Times New Roman" pitchFamily="18" charset="0"/>
                          <a:cs typeface="Times New Roman" pitchFamily="18" charset="0"/>
                        </a:rPr>
                        <a:t>PROBLEM STATEMENT</a:t>
                      </a:r>
                      <a:endParaRPr lang="en-IN" sz="1800" dirty="0">
                        <a:latin typeface="Times New Roman" pitchFamily="18" charset="0"/>
                        <a:cs typeface="Times New Roman" pitchFamily="18" charset="0"/>
                      </a:endParaRPr>
                    </a:p>
                  </a:txBody>
                  <a:tcPr/>
                </a:tc>
              </a:tr>
              <a:tr h="272934">
                <a:tc>
                  <a:txBody>
                    <a:bodyPr/>
                    <a:lstStyle/>
                    <a:p>
                      <a:pPr algn="l"/>
                      <a:r>
                        <a:rPr lang="en-US" sz="1800" dirty="0" smtClean="0">
                          <a:latin typeface="Times New Roman" pitchFamily="18" charset="0"/>
                          <a:cs typeface="Times New Roman" pitchFamily="18" charset="0"/>
                        </a:rPr>
                        <a:t>3</a:t>
                      </a:r>
                      <a:endParaRPr lang="en-IN" sz="1800" dirty="0">
                        <a:latin typeface="Times New Roman" pitchFamily="18" charset="0"/>
                        <a:cs typeface="Times New Roman" pitchFamily="18" charset="0"/>
                      </a:endParaRPr>
                    </a:p>
                  </a:txBody>
                  <a:tcPr/>
                </a:tc>
                <a:tc>
                  <a:txBody>
                    <a:bodyPr/>
                    <a:lstStyle/>
                    <a:p>
                      <a:pPr algn="l"/>
                      <a:r>
                        <a:rPr lang="en-US" sz="1800" dirty="0" smtClean="0">
                          <a:latin typeface="Times New Roman" pitchFamily="18" charset="0"/>
                          <a:cs typeface="Times New Roman" pitchFamily="18" charset="0"/>
                        </a:rPr>
                        <a:t>DATASET OVERVIEW</a:t>
                      </a:r>
                      <a:endParaRPr lang="en-IN" sz="1800" dirty="0">
                        <a:latin typeface="Times New Roman" pitchFamily="18" charset="0"/>
                        <a:cs typeface="Times New Roman" pitchFamily="18" charset="0"/>
                      </a:endParaRPr>
                    </a:p>
                  </a:txBody>
                  <a:tcPr/>
                </a:tc>
              </a:tr>
              <a:tr h="682335">
                <a:tc>
                  <a:txBody>
                    <a:bodyPr/>
                    <a:lstStyle/>
                    <a:p>
                      <a:pPr algn="l"/>
                      <a:r>
                        <a:rPr lang="en-US" sz="1800" dirty="0" smtClean="0">
                          <a:latin typeface="Times New Roman" pitchFamily="18" charset="0"/>
                          <a:cs typeface="Times New Roman" pitchFamily="18" charset="0"/>
                        </a:rPr>
                        <a:t>4</a:t>
                      </a:r>
                      <a:endParaRPr lang="en-IN" sz="1800" dirty="0">
                        <a:latin typeface="Times New Roman" pitchFamily="18" charset="0"/>
                        <a:cs typeface="Times New Roman" pitchFamily="18" charset="0"/>
                      </a:endParaRPr>
                    </a:p>
                  </a:txBody>
                  <a:tcPr/>
                </a:tc>
                <a:tc>
                  <a:txBody>
                    <a:bodyPr/>
                    <a:lstStyle/>
                    <a:p>
                      <a:pPr algn="l"/>
                      <a:r>
                        <a:rPr lang="en-US" sz="1800" dirty="0" smtClean="0">
                          <a:latin typeface="Times New Roman" pitchFamily="18" charset="0"/>
                          <a:cs typeface="Times New Roman" pitchFamily="18" charset="0"/>
                        </a:rPr>
                        <a:t>TECHNOLOGY</a:t>
                      </a:r>
                      <a:r>
                        <a:rPr lang="en-US" sz="1800" baseline="0" dirty="0" smtClean="0">
                          <a:latin typeface="Times New Roman" pitchFamily="18" charset="0"/>
                          <a:cs typeface="Times New Roman" pitchFamily="18" charset="0"/>
                        </a:rPr>
                        <a:t> USED AND DATA TRANSFORMATION STEPS</a:t>
                      </a:r>
                      <a:endParaRPr lang="en-IN" sz="1800" dirty="0">
                        <a:latin typeface="Times New Roman" pitchFamily="18" charset="0"/>
                        <a:cs typeface="Times New Roman" pitchFamily="18" charset="0"/>
                      </a:endParaRPr>
                    </a:p>
                  </a:txBody>
                  <a:tcPr/>
                </a:tc>
              </a:tr>
              <a:tr h="272934">
                <a:tc>
                  <a:txBody>
                    <a:bodyPr/>
                    <a:lstStyle/>
                    <a:p>
                      <a:pPr algn="l"/>
                      <a:r>
                        <a:rPr lang="en-US" sz="1800" dirty="0" smtClean="0">
                          <a:latin typeface="Times New Roman" pitchFamily="18" charset="0"/>
                          <a:cs typeface="Times New Roman" pitchFamily="18" charset="0"/>
                        </a:rPr>
                        <a:t>5</a:t>
                      </a:r>
                      <a:endParaRPr lang="en-IN" sz="1800" dirty="0">
                        <a:latin typeface="Times New Roman" pitchFamily="18" charset="0"/>
                        <a:cs typeface="Times New Roman" pitchFamily="18" charset="0"/>
                      </a:endParaRPr>
                    </a:p>
                  </a:txBody>
                  <a:tcPr/>
                </a:tc>
                <a:tc>
                  <a:txBody>
                    <a:bodyPr/>
                    <a:lstStyle/>
                    <a:p>
                      <a:pPr algn="l"/>
                      <a:r>
                        <a:rPr lang="en-US" sz="1800" dirty="0" smtClean="0">
                          <a:latin typeface="Times New Roman" pitchFamily="18" charset="0"/>
                          <a:cs typeface="Times New Roman" pitchFamily="18" charset="0"/>
                        </a:rPr>
                        <a:t>DATA MODELING</a:t>
                      </a:r>
                    </a:p>
                  </a:txBody>
                  <a:tcPr/>
                </a:tc>
              </a:tr>
              <a:tr h="272934">
                <a:tc>
                  <a:txBody>
                    <a:bodyPr/>
                    <a:lstStyle/>
                    <a:p>
                      <a:pPr algn="l"/>
                      <a:r>
                        <a:rPr lang="en-US" sz="1800" dirty="0" smtClean="0">
                          <a:latin typeface="Times New Roman" pitchFamily="18" charset="0"/>
                          <a:cs typeface="Times New Roman" pitchFamily="18" charset="0"/>
                        </a:rPr>
                        <a:t>6</a:t>
                      </a:r>
                      <a:endParaRPr lang="en-IN" sz="1800" dirty="0">
                        <a:latin typeface="Times New Roman" pitchFamily="18" charset="0"/>
                        <a:cs typeface="Times New Roman" pitchFamily="18" charset="0"/>
                      </a:endParaRPr>
                    </a:p>
                  </a:txBody>
                  <a:tcPr/>
                </a:tc>
                <a:tc>
                  <a:txBody>
                    <a:bodyPr/>
                    <a:lstStyle/>
                    <a:p>
                      <a:pPr algn="l"/>
                      <a:r>
                        <a:rPr lang="en-US" sz="1800" dirty="0" smtClean="0">
                          <a:latin typeface="Times New Roman" pitchFamily="18" charset="0"/>
                          <a:cs typeface="Times New Roman" pitchFamily="18" charset="0"/>
                        </a:rPr>
                        <a:t>KPI SUMMARY</a:t>
                      </a:r>
                      <a:endParaRPr lang="en-IN" sz="1800" dirty="0">
                        <a:latin typeface="Times New Roman" pitchFamily="18" charset="0"/>
                        <a:cs typeface="Times New Roman" pitchFamily="18" charset="0"/>
                      </a:endParaRPr>
                    </a:p>
                  </a:txBody>
                  <a:tcPr/>
                </a:tc>
              </a:tr>
              <a:tr h="477634">
                <a:tc>
                  <a:txBody>
                    <a:bodyPr/>
                    <a:lstStyle/>
                    <a:p>
                      <a:pPr algn="l"/>
                      <a:r>
                        <a:rPr lang="en-US" sz="1800" dirty="0" smtClean="0">
                          <a:latin typeface="Times New Roman" pitchFamily="18" charset="0"/>
                          <a:cs typeface="Times New Roman" pitchFamily="18" charset="0"/>
                        </a:rPr>
                        <a:t>7</a:t>
                      </a:r>
                      <a:endParaRPr lang="en-IN" sz="1800" dirty="0">
                        <a:latin typeface="Times New Roman" pitchFamily="18" charset="0"/>
                        <a:cs typeface="Times New Roman" pitchFamily="18" charset="0"/>
                      </a:endParaRPr>
                    </a:p>
                  </a:txBody>
                  <a:tcPr/>
                </a:tc>
                <a:tc>
                  <a:txBody>
                    <a:bodyPr/>
                    <a:lstStyle/>
                    <a:p>
                      <a:pPr algn="l"/>
                      <a:r>
                        <a:rPr lang="en-US" sz="1800" dirty="0" smtClean="0">
                          <a:latin typeface="Times New Roman" pitchFamily="18" charset="0"/>
                          <a:cs typeface="Times New Roman" pitchFamily="18" charset="0"/>
                        </a:rPr>
                        <a:t>CHARTS</a:t>
                      </a:r>
                      <a:r>
                        <a:rPr lang="en-US" sz="1800" baseline="0" dirty="0" smtClean="0">
                          <a:latin typeface="Times New Roman" pitchFamily="18" charset="0"/>
                          <a:cs typeface="Times New Roman" pitchFamily="18" charset="0"/>
                        </a:rPr>
                        <a:t> USED IN DASHBOARD</a:t>
                      </a:r>
                      <a:endParaRPr lang="en-IN" sz="1800" dirty="0">
                        <a:latin typeface="Times New Roman" pitchFamily="18" charset="0"/>
                        <a:cs typeface="Times New Roman" pitchFamily="18" charset="0"/>
                      </a:endParaRPr>
                    </a:p>
                  </a:txBody>
                  <a:tcPr/>
                </a:tc>
              </a:tr>
              <a:tr h="682335">
                <a:tc>
                  <a:txBody>
                    <a:bodyPr/>
                    <a:lstStyle/>
                    <a:p>
                      <a:pPr algn="l"/>
                      <a:r>
                        <a:rPr lang="en-US" sz="1800" dirty="0" smtClean="0">
                          <a:latin typeface="Times New Roman" pitchFamily="18" charset="0"/>
                          <a:cs typeface="Times New Roman" pitchFamily="18" charset="0"/>
                        </a:rPr>
                        <a:t>8</a:t>
                      </a:r>
                      <a:endParaRPr lang="en-IN" sz="1800" dirty="0">
                        <a:latin typeface="Times New Roman" pitchFamily="18" charset="0"/>
                        <a:cs typeface="Times New Roman" pitchFamily="18" charset="0"/>
                      </a:endParaRPr>
                    </a:p>
                  </a:txBody>
                  <a:tcPr/>
                </a:tc>
                <a:tc>
                  <a:txBody>
                    <a:bodyPr/>
                    <a:lstStyle/>
                    <a:p>
                      <a:pPr algn="l"/>
                      <a:r>
                        <a:rPr lang="en-US" sz="1800" dirty="0" smtClean="0">
                          <a:latin typeface="Times New Roman" pitchFamily="18" charset="0"/>
                          <a:cs typeface="Times New Roman" pitchFamily="18" charset="0"/>
                        </a:rPr>
                        <a:t>THE PROBLEM</a:t>
                      </a:r>
                      <a:r>
                        <a:rPr lang="en-US" sz="1800" baseline="0" dirty="0" smtClean="0">
                          <a:latin typeface="Times New Roman" pitchFamily="18" charset="0"/>
                          <a:cs typeface="Times New Roman" pitchFamily="18" charset="0"/>
                        </a:rPr>
                        <a:t> STATEMENT QUESTIONS WITH EXPLANATIONS</a:t>
                      </a:r>
                      <a:endParaRPr lang="en-IN" sz="1800" dirty="0">
                        <a:latin typeface="Times New Roman" pitchFamily="18" charset="0"/>
                        <a:cs typeface="Times New Roman" pitchFamily="18" charset="0"/>
                      </a:endParaRPr>
                    </a:p>
                  </a:txBody>
                  <a:tcPr/>
                </a:tc>
              </a:tr>
              <a:tr h="272934">
                <a:tc>
                  <a:txBody>
                    <a:bodyPr/>
                    <a:lstStyle/>
                    <a:p>
                      <a:pPr algn="l"/>
                      <a:r>
                        <a:rPr lang="en-US" sz="1800" dirty="0" smtClean="0">
                          <a:latin typeface="Times New Roman" pitchFamily="18" charset="0"/>
                          <a:cs typeface="Times New Roman" pitchFamily="18" charset="0"/>
                        </a:rPr>
                        <a:t>9</a:t>
                      </a:r>
                      <a:endParaRPr lang="en-IN" sz="1800" dirty="0">
                        <a:latin typeface="Times New Roman" pitchFamily="18" charset="0"/>
                        <a:cs typeface="Times New Roman" pitchFamily="18" charset="0"/>
                      </a:endParaRPr>
                    </a:p>
                  </a:txBody>
                  <a:tcPr/>
                </a:tc>
                <a:tc>
                  <a:txBody>
                    <a:bodyPr/>
                    <a:lstStyle/>
                    <a:p>
                      <a:pPr algn="l"/>
                      <a:r>
                        <a:rPr lang="en-US" sz="1800" dirty="0" smtClean="0">
                          <a:latin typeface="Times New Roman" pitchFamily="18" charset="0"/>
                          <a:cs typeface="Times New Roman" pitchFamily="18" charset="0"/>
                        </a:rPr>
                        <a:t>CONCLUSION</a:t>
                      </a:r>
                      <a:endParaRPr lang="en-IN" sz="1800"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1679459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INTRODUCTION</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r>
              <a:rPr lang="en-IN" sz="2400" b="1" dirty="0">
                <a:latin typeface="Times New Roman" pitchFamily="18" charset="0"/>
                <a:cs typeface="Times New Roman" pitchFamily="18" charset="0"/>
              </a:rPr>
              <a:t>HR Analysis – Meaning</a:t>
            </a:r>
            <a:endParaRPr lang="en-IN" sz="2400" dirty="0">
              <a:latin typeface="Times New Roman" pitchFamily="18" charset="0"/>
              <a:cs typeface="Times New Roman" pitchFamily="18" charset="0"/>
            </a:endParaRPr>
          </a:p>
          <a:p>
            <a:pPr algn="just"/>
            <a:r>
              <a:rPr lang="en-IN" sz="2400" b="1" dirty="0">
                <a:latin typeface="Times New Roman" pitchFamily="18" charset="0"/>
                <a:cs typeface="Times New Roman" pitchFamily="18" charset="0"/>
              </a:rPr>
              <a:t>                              </a:t>
            </a:r>
            <a:r>
              <a:rPr lang="en-IN" sz="2400" dirty="0">
                <a:latin typeface="Times New Roman" pitchFamily="18" charset="0"/>
                <a:cs typeface="Times New Roman" pitchFamily="18" charset="0"/>
              </a:rPr>
              <a:t>HR Analysis (Human Resource Analytics) is the process of collecting, </a:t>
            </a:r>
            <a:r>
              <a:rPr lang="en-IN" sz="2400" dirty="0" err="1">
                <a:latin typeface="Times New Roman" pitchFamily="18" charset="0"/>
                <a:cs typeface="Times New Roman" pitchFamily="18" charset="0"/>
              </a:rPr>
              <a:t>analyzing</a:t>
            </a:r>
            <a:r>
              <a:rPr lang="en-IN" sz="2400" dirty="0">
                <a:latin typeface="Times New Roman" pitchFamily="18" charset="0"/>
                <a:cs typeface="Times New Roman" pitchFamily="18" charset="0"/>
              </a:rPr>
              <a:t>, and interpreting employee data to make </a:t>
            </a:r>
            <a:r>
              <a:rPr lang="en-IN" sz="2400" b="1" dirty="0">
                <a:latin typeface="Times New Roman" pitchFamily="18" charset="0"/>
                <a:cs typeface="Times New Roman" pitchFamily="18" charset="0"/>
              </a:rPr>
              <a:t>data-driven decisions</a:t>
            </a:r>
            <a:r>
              <a:rPr lang="en-IN" sz="2400" dirty="0">
                <a:latin typeface="Times New Roman" pitchFamily="18" charset="0"/>
                <a:cs typeface="Times New Roman" pitchFamily="18" charset="0"/>
              </a:rPr>
              <a:t> that improve workforce performance, employee satisfaction, and organizational effectiveness.</a:t>
            </a:r>
          </a:p>
          <a:p>
            <a:pPr algn="just"/>
            <a:r>
              <a:rPr lang="en-IN" sz="2400" dirty="0">
                <a:latin typeface="Times New Roman" pitchFamily="18" charset="0"/>
                <a:cs typeface="Times New Roman" pitchFamily="18" charset="0"/>
              </a:rPr>
              <a:t>In simple terms, </a:t>
            </a:r>
            <a:r>
              <a:rPr lang="en-IN" sz="2400" b="1" dirty="0">
                <a:latin typeface="Times New Roman" pitchFamily="18" charset="0"/>
                <a:cs typeface="Times New Roman" pitchFamily="18" charset="0"/>
              </a:rPr>
              <a:t>HR Analysis helps organizations understand:</a:t>
            </a:r>
            <a:endParaRPr lang="en-IN" sz="2400" dirty="0">
              <a:latin typeface="Times New Roman" pitchFamily="18" charset="0"/>
              <a:cs typeface="Times New Roman" pitchFamily="18" charset="0"/>
            </a:endParaRPr>
          </a:p>
          <a:p>
            <a:pPr lvl="0" algn="just"/>
            <a:r>
              <a:rPr lang="en-IN" sz="2400" dirty="0">
                <a:latin typeface="Times New Roman" pitchFamily="18" charset="0"/>
                <a:cs typeface="Times New Roman" pitchFamily="18" charset="0"/>
              </a:rPr>
              <a:t>Why employees leave (attrition)</a:t>
            </a:r>
          </a:p>
          <a:p>
            <a:pPr lvl="0" algn="just"/>
            <a:r>
              <a:rPr lang="en-IN" sz="2400" dirty="0">
                <a:latin typeface="Times New Roman" pitchFamily="18" charset="0"/>
                <a:cs typeface="Times New Roman" pitchFamily="18" charset="0"/>
              </a:rPr>
              <a:t>How performance varies across roles and departments</a:t>
            </a:r>
          </a:p>
          <a:p>
            <a:pPr lvl="0" algn="just"/>
            <a:r>
              <a:rPr lang="en-IN" sz="2400" dirty="0">
                <a:latin typeface="Times New Roman" pitchFamily="18" charset="0"/>
                <a:cs typeface="Times New Roman" pitchFamily="18" charset="0"/>
              </a:rPr>
              <a:t>What factors affect job satisfaction and productivity</a:t>
            </a:r>
          </a:p>
          <a:p>
            <a:pPr lvl="0" algn="just"/>
            <a:r>
              <a:rPr lang="en-IN" sz="2400" dirty="0">
                <a:latin typeface="Times New Roman" pitchFamily="18" charset="0"/>
                <a:cs typeface="Times New Roman" pitchFamily="18" charset="0"/>
              </a:rPr>
              <a:t>How to plan hiring, training, and retention strategies</a:t>
            </a:r>
          </a:p>
          <a:p>
            <a:pPr algn="just"/>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093765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latin typeface="Times New Roman" pitchFamily="18" charset="0"/>
                <a:cs typeface="Times New Roman" pitchFamily="18" charset="0"/>
              </a:rPr>
              <a:t>Problem Statement</a:t>
            </a:r>
            <a:br>
              <a:rPr lang="en-IN" sz="3600" b="1" dirty="0">
                <a:latin typeface="Times New Roman" pitchFamily="18" charset="0"/>
                <a:cs typeface="Times New Roman" pitchFamily="18" charset="0"/>
              </a:rPr>
            </a:b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40768"/>
            <a:ext cx="8229600" cy="4785395"/>
          </a:xfrm>
        </p:spPr>
        <p:txBody>
          <a:bodyPr>
            <a:normAutofit fontScale="70000" lnSpcReduction="20000"/>
          </a:bodyPr>
          <a:lstStyle/>
          <a:p>
            <a:pPr algn="just"/>
            <a:r>
              <a:rPr lang="en-IN" sz="3400" dirty="0">
                <a:latin typeface="Times New Roman" pitchFamily="18" charset="0"/>
                <a:cs typeface="Times New Roman" pitchFamily="18" charset="0"/>
              </a:rPr>
              <a:t>Organizations often struggle to identify the key drivers behind employee attrition, low performance, and job dissatisfaction due to fragmented HR data and limited analytical visibility. The absence of consolidated dashboards makes it difficult to </a:t>
            </a:r>
            <a:r>
              <a:rPr lang="en-IN" sz="3400" dirty="0" err="1">
                <a:latin typeface="Times New Roman" pitchFamily="18" charset="0"/>
                <a:cs typeface="Times New Roman" pitchFamily="18" charset="0"/>
              </a:rPr>
              <a:t>analyze</a:t>
            </a:r>
            <a:r>
              <a:rPr lang="en-IN" sz="3400" dirty="0">
                <a:latin typeface="Times New Roman" pitchFamily="18" charset="0"/>
                <a:cs typeface="Times New Roman" pitchFamily="18" charset="0"/>
              </a:rPr>
              <a:t> workforce patterns efficiently.</a:t>
            </a:r>
            <a:endParaRPr lang="en-IN" sz="3400" b="1" dirty="0">
              <a:latin typeface="Times New Roman" pitchFamily="18" charset="0"/>
              <a:cs typeface="Times New Roman" pitchFamily="18" charset="0"/>
            </a:endParaRPr>
          </a:p>
          <a:p>
            <a:pPr algn="just"/>
            <a:r>
              <a:rPr lang="en-IN" sz="3400" dirty="0">
                <a:latin typeface="Times New Roman" pitchFamily="18" charset="0"/>
                <a:cs typeface="Times New Roman" pitchFamily="18" charset="0"/>
              </a:rPr>
              <a:t>The objective of this project is to </a:t>
            </a:r>
            <a:r>
              <a:rPr lang="en-IN" sz="3400" dirty="0" err="1">
                <a:latin typeface="Times New Roman" pitchFamily="18" charset="0"/>
                <a:cs typeface="Times New Roman" pitchFamily="18" charset="0"/>
              </a:rPr>
              <a:t>analyze</a:t>
            </a:r>
            <a:r>
              <a:rPr lang="en-IN" sz="3400" dirty="0">
                <a:latin typeface="Times New Roman" pitchFamily="18" charset="0"/>
                <a:cs typeface="Times New Roman" pitchFamily="18" charset="0"/>
              </a:rPr>
              <a:t> HR data to:</a:t>
            </a:r>
            <a:endParaRPr lang="en-IN" sz="3400" b="1" dirty="0">
              <a:latin typeface="Times New Roman" pitchFamily="18" charset="0"/>
              <a:cs typeface="Times New Roman" pitchFamily="18" charset="0"/>
            </a:endParaRPr>
          </a:p>
          <a:p>
            <a:pPr lvl="0" algn="just"/>
            <a:r>
              <a:rPr lang="en-IN" sz="3400" dirty="0">
                <a:latin typeface="Times New Roman" pitchFamily="18" charset="0"/>
                <a:cs typeface="Times New Roman" pitchFamily="18" charset="0"/>
              </a:rPr>
              <a:t>Identify factors influencing employee attrition and retrenchment</a:t>
            </a:r>
            <a:endParaRPr lang="en-IN" sz="3400" b="1" dirty="0">
              <a:latin typeface="Times New Roman" pitchFamily="18" charset="0"/>
              <a:cs typeface="Times New Roman" pitchFamily="18" charset="0"/>
            </a:endParaRPr>
          </a:p>
          <a:p>
            <a:pPr lvl="0" algn="just"/>
            <a:r>
              <a:rPr lang="en-IN" sz="3400" dirty="0">
                <a:latin typeface="Times New Roman" pitchFamily="18" charset="0"/>
                <a:cs typeface="Times New Roman" pitchFamily="18" charset="0"/>
              </a:rPr>
              <a:t>Understand the relationship between job satisfaction, performance ratings, and experience</a:t>
            </a:r>
            <a:endParaRPr lang="en-IN" sz="3400" b="1" dirty="0">
              <a:latin typeface="Times New Roman" pitchFamily="18" charset="0"/>
              <a:cs typeface="Times New Roman" pitchFamily="18" charset="0"/>
            </a:endParaRPr>
          </a:p>
          <a:p>
            <a:pPr lvl="0" algn="just"/>
            <a:r>
              <a:rPr lang="en-IN" sz="3400" dirty="0" err="1">
                <a:latin typeface="Times New Roman" pitchFamily="18" charset="0"/>
                <a:cs typeface="Times New Roman" pitchFamily="18" charset="0"/>
              </a:rPr>
              <a:t>Analyze</a:t>
            </a:r>
            <a:r>
              <a:rPr lang="en-IN" sz="3400" dirty="0">
                <a:latin typeface="Times New Roman" pitchFamily="18" charset="0"/>
                <a:cs typeface="Times New Roman" pitchFamily="18" charset="0"/>
              </a:rPr>
              <a:t> workforce distribution across job levels and distance from workplace</a:t>
            </a:r>
            <a:endParaRPr lang="en-IN" sz="3400" b="1" dirty="0">
              <a:latin typeface="Times New Roman" pitchFamily="18" charset="0"/>
              <a:cs typeface="Times New Roman" pitchFamily="18" charset="0"/>
            </a:endParaRPr>
          </a:p>
          <a:p>
            <a:pPr lvl="0" algn="just"/>
            <a:r>
              <a:rPr lang="en-IN" sz="3400" dirty="0">
                <a:latin typeface="Times New Roman" pitchFamily="18" charset="0"/>
                <a:cs typeface="Times New Roman" pitchFamily="18" charset="0"/>
              </a:rPr>
              <a:t>Support HR decision-making through interactive and visual analytics</a:t>
            </a:r>
            <a:endParaRPr lang="en-IN" sz="3400" b="1"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2707396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smtClean="0">
                <a:latin typeface="Times New Roman" pitchFamily="18" charset="0"/>
                <a:cs typeface="Times New Roman" pitchFamily="18" charset="0"/>
              </a:rPr>
              <a:t>DATASET OVERVIEW</a:t>
            </a:r>
            <a:r>
              <a:rPr lang="en-IN" sz="3200" b="1" dirty="0">
                <a:latin typeface="Times New Roman" pitchFamily="18" charset="0"/>
                <a:cs typeface="Times New Roman" pitchFamily="18" charset="0"/>
              </a:rPr>
              <a:t/>
            </a:r>
            <a:br>
              <a:rPr lang="en-IN" sz="3200" b="1" dirty="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pPr algn="just"/>
            <a:r>
              <a:rPr lang="en-IN" dirty="0">
                <a:latin typeface="Times New Roman" pitchFamily="18" charset="0"/>
                <a:cs typeface="Times New Roman" pitchFamily="18" charset="0"/>
              </a:rPr>
              <a:t>The dataset used in this project contains employee-level HR information with the following key attributes:</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Employee ID</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Age and Gender</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Department and Job Role</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Job Level</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Years of Service (Experience)</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Job Satisfaction Level</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Performance Rating</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Distance from Workplace</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Retrenchment / Attrition Status</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The dataset is structured in tabular format and represents a cross-section of employees across different departments and experience levels.</a:t>
            </a:r>
            <a:endParaRPr lang="en-IN" b="1"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724568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b="1" dirty="0">
                <a:latin typeface="Times New Roman" pitchFamily="18" charset="0"/>
                <a:cs typeface="Times New Roman" pitchFamily="18" charset="0"/>
              </a:rPr>
              <a:t>Technology Used &amp; Data Transformation Steps</a:t>
            </a:r>
            <a:br>
              <a:rPr lang="en-IN" sz="2800" b="1" dirty="0">
                <a:latin typeface="Times New Roman" pitchFamily="18" charset="0"/>
                <a:cs typeface="Times New Roman" pitchFamily="18" charset="0"/>
              </a:rPr>
            </a:br>
            <a:endParaRPr lang="en-IN"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IN" b="1" dirty="0">
                <a:latin typeface="Times New Roman" pitchFamily="18" charset="0"/>
                <a:cs typeface="Times New Roman" pitchFamily="18" charset="0"/>
              </a:rPr>
              <a:t>Tools &amp; Technologies:</a:t>
            </a:r>
          </a:p>
          <a:p>
            <a:pPr lvl="0" algn="just"/>
            <a:r>
              <a:rPr lang="en-IN" dirty="0">
                <a:latin typeface="Times New Roman" pitchFamily="18" charset="0"/>
                <a:cs typeface="Times New Roman" pitchFamily="18" charset="0"/>
              </a:rPr>
              <a:t>Power BI Desktop</a:t>
            </a:r>
            <a:endParaRPr lang="en-IN" b="1" dirty="0">
              <a:latin typeface="Times New Roman" pitchFamily="18" charset="0"/>
              <a:cs typeface="Times New Roman" pitchFamily="18" charset="0"/>
            </a:endParaRPr>
          </a:p>
          <a:p>
            <a:pPr lvl="0" algn="just"/>
            <a:r>
              <a:rPr lang="en-IN" dirty="0">
                <a:latin typeface="Times New Roman" pitchFamily="18" charset="0"/>
                <a:cs typeface="Times New Roman" pitchFamily="18" charset="0"/>
              </a:rPr>
              <a:t>Power Query Editor</a:t>
            </a:r>
            <a:endParaRPr lang="en-IN" b="1" dirty="0">
              <a:latin typeface="Times New Roman" pitchFamily="18" charset="0"/>
              <a:cs typeface="Times New Roman" pitchFamily="18" charset="0"/>
            </a:endParaRPr>
          </a:p>
          <a:p>
            <a:pPr lvl="0" algn="just"/>
            <a:r>
              <a:rPr lang="en-IN" dirty="0">
                <a:latin typeface="Times New Roman" pitchFamily="18" charset="0"/>
                <a:cs typeface="Times New Roman" pitchFamily="18" charset="0"/>
              </a:rPr>
              <a:t>DAX (Data Analysis Expressions)</a:t>
            </a:r>
            <a:endParaRPr lang="en-IN" b="1" dirty="0">
              <a:latin typeface="Times New Roman" pitchFamily="18" charset="0"/>
              <a:cs typeface="Times New Roman" pitchFamily="18" charset="0"/>
            </a:endParaRPr>
          </a:p>
          <a:p>
            <a:pPr lvl="0" algn="just"/>
            <a:r>
              <a:rPr lang="en-IN" dirty="0">
                <a:latin typeface="Times New Roman" pitchFamily="18" charset="0"/>
                <a:cs typeface="Times New Roman" pitchFamily="18" charset="0"/>
              </a:rPr>
              <a:t>Microsoft Excel (for initial data validation)</a:t>
            </a:r>
            <a:endParaRPr lang="en-IN" b="1" dirty="0">
              <a:latin typeface="Times New Roman" pitchFamily="18" charset="0"/>
              <a:cs typeface="Times New Roman" pitchFamily="18" charset="0"/>
            </a:endParaRP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45269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smtClean="0">
                <a:latin typeface="Times New Roman" pitchFamily="18" charset="0"/>
                <a:cs typeface="Times New Roman" pitchFamily="18" charset="0"/>
              </a:rPr>
              <a:t>Data Transformation Steps:</a:t>
            </a:r>
            <a:br>
              <a:rPr lang="en-IN" sz="2800" b="1" dirty="0" smtClean="0">
                <a:latin typeface="Times New Roman" pitchFamily="18" charset="0"/>
                <a:cs typeface="Times New Roman" pitchFamily="18" charset="0"/>
              </a:rPr>
            </a:br>
            <a:endParaRPr lang="en-IN"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dirty="0" smtClean="0">
                <a:latin typeface="Times New Roman" pitchFamily="18" charset="0"/>
                <a:cs typeface="Times New Roman" pitchFamily="18" charset="0"/>
              </a:rPr>
              <a:t>Imported </a:t>
            </a:r>
            <a:r>
              <a:rPr lang="en-IN" dirty="0">
                <a:latin typeface="Times New Roman" pitchFamily="18" charset="0"/>
                <a:cs typeface="Times New Roman" pitchFamily="18" charset="0"/>
              </a:rPr>
              <a:t>raw HR dataset into Power BI</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Removed duplicate and null records</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Standardized column names and data types</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Created calculated columns for service year bands and distance categories</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Categorized job satisfaction and performance ratings</a:t>
            </a:r>
            <a:endParaRPr lang="en-IN" b="1"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Ensured data consistency for categorical fields</a:t>
            </a:r>
            <a:endParaRPr lang="en-IN" b="1"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1580190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latin typeface="Times New Roman" pitchFamily="18" charset="0"/>
                <a:cs typeface="Times New Roman" pitchFamily="18" charset="0"/>
              </a:rPr>
              <a:t>Data </a:t>
            </a:r>
            <a:r>
              <a:rPr lang="en-IN" sz="3200" b="1" dirty="0" err="1" smtClean="0">
                <a:latin typeface="Times New Roman" pitchFamily="18" charset="0"/>
                <a:cs typeface="Times New Roman" pitchFamily="18" charset="0"/>
              </a:rPr>
              <a:t>Modeling</a:t>
            </a:r>
            <a:r>
              <a:rPr lang="en-IN" sz="3200" b="1" dirty="0" smtClean="0">
                <a:latin typeface="Times New Roman" pitchFamily="18" charset="0"/>
                <a:cs typeface="Times New Roman" pitchFamily="18" charset="0"/>
              </a:rPr>
              <a:t/>
            </a:r>
            <a:br>
              <a:rPr lang="en-IN" sz="3200" b="1" dirty="0" smtClean="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pPr algn="just"/>
            <a:r>
              <a:rPr lang="en-IN" sz="3300" dirty="0" smtClean="0">
                <a:latin typeface="Times New Roman" pitchFamily="18" charset="0"/>
                <a:cs typeface="Times New Roman" pitchFamily="18" charset="0"/>
              </a:rPr>
              <a:t>A </a:t>
            </a:r>
            <a:r>
              <a:rPr lang="en-IN" sz="3300" dirty="0">
                <a:latin typeface="Times New Roman" pitchFamily="18" charset="0"/>
                <a:cs typeface="Times New Roman" pitchFamily="18" charset="0"/>
              </a:rPr>
              <a:t>star schema–based data model was implemented to ensure optimal performance and scalability.</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Fact Table: Employee HR Data</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Dimension Tables:</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Department</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Job Level</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Satisfaction Level</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Performance Rating</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Relationships were created using unique keys, with appropriate cardinality and filter directions to support accurate analysis.</a:t>
            </a:r>
            <a:endParaRPr lang="en-IN" sz="3300" b="1"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2833000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itchFamily="18" charset="0"/>
                <a:cs typeface="Times New Roman" pitchFamily="18" charset="0"/>
              </a:rPr>
              <a:t>KPI Summary</a:t>
            </a:r>
            <a:br>
              <a:rPr lang="en-IN" sz="3200" b="1" dirty="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pPr algn="just"/>
            <a:r>
              <a:rPr lang="en-IN" sz="3300" dirty="0">
                <a:latin typeface="Times New Roman" pitchFamily="18" charset="0"/>
                <a:cs typeface="Times New Roman" pitchFamily="18" charset="0"/>
              </a:rPr>
              <a:t>The dashboard highlights the following key performance indicators (KPIs):</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Total Employees</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Active Employees</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Attrition / Retrenchment Count</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Attrition Rate (%)</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Average Job Satisfaction Score</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Average Performance Rating</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Average Years of Service</a:t>
            </a:r>
            <a:endParaRPr lang="en-IN" sz="3300" b="1" dirty="0">
              <a:latin typeface="Times New Roman" pitchFamily="18" charset="0"/>
              <a:cs typeface="Times New Roman" pitchFamily="18" charset="0"/>
            </a:endParaRPr>
          </a:p>
          <a:p>
            <a:pPr algn="just"/>
            <a:r>
              <a:rPr lang="en-IN" sz="3300" dirty="0">
                <a:latin typeface="Times New Roman" pitchFamily="18" charset="0"/>
                <a:cs typeface="Times New Roman" pitchFamily="18" charset="0"/>
              </a:rPr>
              <a:t>These KPIs provide a quick snapshot of overall workforce health.</a:t>
            </a:r>
            <a:endParaRPr lang="en-IN" sz="3300" b="1"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2422040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latin typeface="Times New Roman" pitchFamily="18" charset="0"/>
                <a:cs typeface="Times New Roman" pitchFamily="18" charset="0"/>
              </a:rPr>
              <a:t>Charts Used in the Dashboard</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pPr algn="just"/>
            <a:r>
              <a:rPr lang="en-IN" sz="2800" dirty="0" smtClean="0">
                <a:latin typeface="Times New Roman" pitchFamily="18" charset="0"/>
                <a:cs typeface="Times New Roman" pitchFamily="18" charset="0"/>
              </a:rPr>
              <a:t>The </a:t>
            </a:r>
            <a:r>
              <a:rPr lang="en-IN" sz="2800" dirty="0">
                <a:latin typeface="Times New Roman" pitchFamily="18" charset="0"/>
                <a:cs typeface="Times New Roman" pitchFamily="18" charset="0"/>
              </a:rPr>
              <a:t>following visualizations were used to present insights effectively:</a:t>
            </a:r>
            <a:endParaRPr lang="en-IN" sz="2800" b="1"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Bar Chart: Employee count by department and job level</a:t>
            </a:r>
            <a:endParaRPr lang="en-IN" sz="2800" b="1"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Pie / Donut Chart: Attrition distribution</a:t>
            </a:r>
            <a:endParaRPr lang="en-IN" sz="2800" b="1"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Column Chart: Performance rating </a:t>
            </a:r>
            <a:r>
              <a:rPr lang="en-IN" sz="2800" dirty="0" err="1">
                <a:latin typeface="Times New Roman" pitchFamily="18" charset="0"/>
                <a:cs typeface="Times New Roman" pitchFamily="18" charset="0"/>
              </a:rPr>
              <a:t>vs</a:t>
            </a:r>
            <a:r>
              <a:rPr lang="en-IN" sz="2800" dirty="0">
                <a:latin typeface="Times New Roman" pitchFamily="18" charset="0"/>
                <a:cs typeface="Times New Roman" pitchFamily="18" charset="0"/>
              </a:rPr>
              <a:t> job satisfaction</a:t>
            </a:r>
            <a:endParaRPr lang="en-IN" sz="2800" b="1"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Line Chart: Attrition trend by years of service</a:t>
            </a:r>
            <a:endParaRPr lang="en-IN" sz="2800" b="1"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Stacked Bar Chart: Job satisfaction by job level</a:t>
            </a:r>
            <a:endParaRPr lang="en-IN" sz="2800" b="1"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Slicer Controls: Department, job role, gender, retrenchment status</a:t>
            </a:r>
            <a:endParaRPr lang="en-IN" sz="2800" b="1"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These charts enable interactive analysis and easy drill-down for decision-makers.</a:t>
            </a:r>
            <a:endParaRPr lang="en-IN" sz="2800" b="1"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1001374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1152126"/>
          </a:xfrm>
        </p:spPr>
        <p:txBody>
          <a:bodyPr>
            <a:noAutofit/>
          </a:bodyPr>
          <a:lstStyle/>
          <a:p>
            <a:pPr algn="ctr"/>
            <a:r>
              <a:rPr lang="en-US" sz="2800" b="1" dirty="0">
                <a:latin typeface="Times New Roman" pitchFamily="18" charset="0"/>
                <a:cs typeface="Times New Roman" pitchFamily="18" charset="0"/>
              </a:rPr>
              <a:t>Pie Chart – Category Wise Employee Job Satisfaction</a:t>
            </a:r>
            <a:br>
              <a:rPr lang="en-US" sz="2800" b="1" dirty="0">
                <a:latin typeface="Times New Roman" pitchFamily="18" charset="0"/>
                <a:cs typeface="Times New Roman" pitchFamily="18" charset="0"/>
              </a:rPr>
            </a:br>
            <a:endParaRPr lang="en-IN"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56792"/>
            <a:ext cx="8229600" cy="4767808"/>
          </a:xfrm>
        </p:spPr>
        <p:txBody>
          <a:bodyPr>
            <a:normAutofit lnSpcReduction="10000"/>
          </a:bodyPr>
          <a:lstStyle/>
          <a:p>
            <a:pPr marL="0" indent="0">
              <a:buNone/>
            </a:pPr>
            <a:endParaRPr lang="en-US" b="1" dirty="0"/>
          </a:p>
          <a:p>
            <a:pPr algn="just"/>
            <a:r>
              <a:rPr lang="en-US" b="1" dirty="0" smtClean="0">
                <a:latin typeface="Times New Roman" pitchFamily="18" charset="0"/>
                <a:cs typeface="Times New Roman" pitchFamily="18" charset="0"/>
              </a:rPr>
              <a:t>Chart </a:t>
            </a:r>
            <a:r>
              <a:rPr lang="en-US" b="1" dirty="0">
                <a:latin typeface="Times New Roman" pitchFamily="18" charset="0"/>
                <a:cs typeface="Times New Roman" pitchFamily="18" charset="0"/>
              </a:rPr>
              <a:t>Type: Pie Chart</a:t>
            </a:r>
          </a:p>
          <a:p>
            <a:pPr algn="just"/>
            <a:r>
              <a:rPr lang="en-US" b="1" dirty="0">
                <a:latin typeface="Times New Roman" pitchFamily="18" charset="0"/>
                <a:cs typeface="Times New Roman" pitchFamily="18" charset="0"/>
              </a:rPr>
              <a:t>Categories:</a:t>
            </a: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Low</a:t>
            </a:r>
          </a:p>
          <a:p>
            <a:pPr algn="just"/>
            <a:r>
              <a:rPr lang="en-US" dirty="0">
                <a:latin typeface="Times New Roman" pitchFamily="18" charset="0"/>
                <a:cs typeface="Times New Roman" pitchFamily="18" charset="0"/>
              </a:rPr>
              <a:t>Mid</a:t>
            </a:r>
          </a:p>
          <a:p>
            <a:pPr algn="just"/>
            <a:r>
              <a:rPr lang="en-US" dirty="0">
                <a:latin typeface="Times New Roman" pitchFamily="18" charset="0"/>
                <a:cs typeface="Times New Roman" pitchFamily="18" charset="0"/>
              </a:rPr>
              <a:t>High</a:t>
            </a:r>
          </a:p>
          <a:p>
            <a:pPr algn="just"/>
            <a:r>
              <a:rPr lang="en-US" b="1" dirty="0" smtClean="0">
                <a:latin typeface="Times New Roman" pitchFamily="18" charset="0"/>
                <a:cs typeface="Times New Roman" pitchFamily="18" charset="0"/>
              </a:rPr>
              <a:t>Explanation:</a:t>
            </a:r>
            <a:endParaRPr lang="en-US" b="1"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This </a:t>
            </a:r>
            <a:r>
              <a:rPr lang="en-US" dirty="0">
                <a:latin typeface="Times New Roman" pitchFamily="18" charset="0"/>
                <a:cs typeface="Times New Roman" pitchFamily="18" charset="0"/>
              </a:rPr>
              <a:t>chart shows the </a:t>
            </a:r>
            <a:r>
              <a:rPr lang="en-US" b="1" dirty="0">
                <a:latin typeface="Times New Roman" pitchFamily="18" charset="0"/>
                <a:cs typeface="Times New Roman" pitchFamily="18" charset="0"/>
              </a:rPr>
              <a:t>distribution of employees based on job satisfaction levels</a:t>
            </a:r>
            <a:r>
              <a:rPr lang="en-US" dirty="0">
                <a:latin typeface="Times New Roman" pitchFamily="18" charset="0"/>
                <a:cs typeface="Times New Roman" pitchFamily="18" charset="0"/>
              </a:rPr>
              <a:t>. Each slice represents the percentage of employees falling under a satisfaction category.</a:t>
            </a:r>
          </a:p>
          <a:p>
            <a:pPr marL="0" indent="0">
              <a:buNone/>
            </a:pPr>
            <a:endParaRPr lang="en-US" b="1" dirty="0"/>
          </a:p>
          <a:p>
            <a:endParaRPr lang="en-US" dirty="0" smtClean="0"/>
          </a:p>
          <a:p>
            <a:endParaRPr lang="en-US" dirty="0"/>
          </a:p>
          <a:p>
            <a:endParaRPr lang="en-US" dirty="0" smtClean="0"/>
          </a:p>
          <a:p>
            <a:endParaRPr lang="en-US" dirty="0"/>
          </a:p>
          <a:p>
            <a:endParaRPr lang="en-US" dirty="0" smtClean="0"/>
          </a:p>
          <a:p>
            <a:pPr algn="just"/>
            <a:endParaRPr lang="en-US" dirty="0" smtClean="0">
              <a:latin typeface="Times New Roman" pitchFamily="18" charset="0"/>
              <a:cs typeface="Times New Roman" pitchFamily="18" charset="0"/>
            </a:endParaRPr>
          </a:p>
          <a:p>
            <a:endParaRPr lang="en-IN" sz="2000" dirty="0"/>
          </a:p>
        </p:txBody>
      </p:sp>
      <p:pic>
        <p:nvPicPr>
          <p:cNvPr id="15" name="Picture 14"/>
          <p:cNvPicPr>
            <a:picLocks noChangeAspect="1"/>
          </p:cNvPicPr>
          <p:nvPr/>
        </p:nvPicPr>
        <p:blipFill rotWithShape="1">
          <a:blip r:embed="rId2">
            <a:extLst>
              <a:ext uri="{28A0092B-C50C-407E-A947-70E740481C1C}">
                <a14:useLocalDpi xmlns:a14="http://schemas.microsoft.com/office/drawing/2010/main" val="0"/>
              </a:ext>
            </a:extLst>
          </a:blip>
          <a:srcRect l="10291" t="18471" r="52567" b="26419"/>
          <a:stretch/>
        </p:blipFill>
        <p:spPr>
          <a:xfrm>
            <a:off x="4644008" y="1658821"/>
            <a:ext cx="4032448" cy="2833196"/>
          </a:xfrm>
          <a:prstGeom prst="rect">
            <a:avLst/>
          </a:prstGeom>
        </p:spPr>
      </p:pic>
    </p:spTree>
    <p:extLst>
      <p:ext uri="{BB962C8B-B14F-4D97-AF65-F5344CB8AC3E}">
        <p14:creationId xmlns:p14="http://schemas.microsoft.com/office/powerpoint/2010/main" val="3285418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Times New Roman" pitchFamily="18" charset="0"/>
                <a:cs typeface="Times New Roman" pitchFamily="18" charset="0"/>
              </a:rPr>
              <a:t>Waterfall Chart – Total Staff by Travel Range</a:t>
            </a:r>
            <a:br>
              <a:rPr lang="en-US" sz="3200" b="1" dirty="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56792"/>
            <a:ext cx="8229600" cy="4767808"/>
          </a:xfrm>
        </p:spPr>
        <p:txBody>
          <a:bodyPr>
            <a:normAutofit lnSpcReduction="10000"/>
          </a:bodyPr>
          <a:lstStyle/>
          <a:p>
            <a:pPr marL="0" indent="0">
              <a:buNone/>
            </a:pPr>
            <a:endParaRPr lang="en-US" b="1" dirty="0"/>
          </a:p>
          <a:p>
            <a:pPr algn="just"/>
            <a:r>
              <a:rPr lang="en-US" b="1" dirty="0" smtClean="0">
                <a:latin typeface="Times New Roman" pitchFamily="18" charset="0"/>
                <a:cs typeface="Times New Roman" pitchFamily="18" charset="0"/>
              </a:rPr>
              <a:t>Chart </a:t>
            </a:r>
            <a:r>
              <a:rPr lang="en-US" b="1" dirty="0">
                <a:latin typeface="Times New Roman" pitchFamily="18" charset="0"/>
                <a:cs typeface="Times New Roman" pitchFamily="18" charset="0"/>
              </a:rPr>
              <a:t>Type: Waterfall Chart</a:t>
            </a:r>
          </a:p>
          <a:p>
            <a:pPr algn="just"/>
            <a:r>
              <a:rPr lang="en-US" b="1" dirty="0">
                <a:latin typeface="Times New Roman" pitchFamily="18" charset="0"/>
                <a:cs typeface="Times New Roman" pitchFamily="18" charset="0"/>
              </a:rPr>
              <a:t>Travel Categories:</a:t>
            </a: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Very Close</a:t>
            </a:r>
          </a:p>
          <a:p>
            <a:pPr algn="just"/>
            <a:r>
              <a:rPr lang="en-US" dirty="0">
                <a:latin typeface="Times New Roman" pitchFamily="18" charset="0"/>
                <a:cs typeface="Times New Roman" pitchFamily="18" charset="0"/>
              </a:rPr>
              <a:t>Close</a:t>
            </a:r>
          </a:p>
          <a:p>
            <a:pPr algn="just"/>
            <a:r>
              <a:rPr lang="en-US" dirty="0">
                <a:latin typeface="Times New Roman" pitchFamily="18" charset="0"/>
                <a:cs typeface="Times New Roman" pitchFamily="18" charset="0"/>
              </a:rPr>
              <a:t>Very Far</a:t>
            </a:r>
          </a:p>
          <a:p>
            <a:pPr algn="just"/>
            <a:r>
              <a:rPr lang="en-US" b="1" dirty="0" smtClean="0">
                <a:latin typeface="Times New Roman" pitchFamily="18" charset="0"/>
                <a:cs typeface="Times New Roman" pitchFamily="18" charset="0"/>
              </a:rPr>
              <a:t>Explanation:</a:t>
            </a:r>
            <a:endParaRPr lang="en-US" b="1"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This </a:t>
            </a:r>
            <a:r>
              <a:rPr lang="en-US" dirty="0">
                <a:latin typeface="Times New Roman" pitchFamily="18" charset="0"/>
                <a:cs typeface="Times New Roman" pitchFamily="18" charset="0"/>
              </a:rPr>
              <a:t>chart displays the </a:t>
            </a:r>
            <a:r>
              <a:rPr lang="en-US" b="1" dirty="0">
                <a:latin typeface="Times New Roman" pitchFamily="18" charset="0"/>
                <a:cs typeface="Times New Roman" pitchFamily="18" charset="0"/>
              </a:rPr>
              <a:t>incremental contribution of employees</a:t>
            </a:r>
            <a:r>
              <a:rPr lang="en-US" dirty="0">
                <a:latin typeface="Times New Roman" pitchFamily="18" charset="0"/>
                <a:cs typeface="Times New Roman" pitchFamily="18" charset="0"/>
              </a:rPr>
              <a:t> based on business travel distance. It shows how each travel category increases the total employee count.</a:t>
            </a:r>
          </a:p>
          <a:p>
            <a:endParaRPr lang="en-IN"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9350" t="27164" r="49726" b="30488"/>
          <a:stretch/>
        </p:blipFill>
        <p:spPr>
          <a:xfrm>
            <a:off x="5220072" y="1844824"/>
            <a:ext cx="3695448" cy="2556000"/>
          </a:xfrm>
          <a:prstGeom prst="rect">
            <a:avLst/>
          </a:prstGeom>
        </p:spPr>
      </p:pic>
    </p:spTree>
    <p:extLst>
      <p:ext uri="{BB962C8B-B14F-4D97-AF65-F5344CB8AC3E}">
        <p14:creationId xmlns:p14="http://schemas.microsoft.com/office/powerpoint/2010/main" val="2428279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b="1" dirty="0">
                <a:latin typeface="Times New Roman" pitchFamily="18" charset="0"/>
                <a:cs typeface="Times New Roman" pitchFamily="18" charset="0"/>
              </a:rPr>
              <a:t>Clustered Column Chart – Total Active Employee by Job Role</a:t>
            </a:r>
            <a:br>
              <a:rPr lang="en-US" sz="3200" b="1" dirty="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56792"/>
            <a:ext cx="8229600" cy="4767808"/>
          </a:xfrm>
        </p:spPr>
        <p:txBody>
          <a:bodyPr>
            <a:normAutofit fontScale="47500" lnSpcReduction="20000"/>
          </a:bodyPr>
          <a:lstStyle/>
          <a:p>
            <a:pPr marL="0" indent="0">
              <a:buNone/>
            </a:pPr>
            <a:endParaRPr lang="en-US" b="1" dirty="0"/>
          </a:p>
          <a:p>
            <a:pPr algn="just"/>
            <a:r>
              <a:rPr lang="en-US" sz="4400" b="1" dirty="0" smtClean="0">
                <a:latin typeface="Times New Roman" pitchFamily="18" charset="0"/>
                <a:cs typeface="Times New Roman" pitchFamily="18" charset="0"/>
              </a:rPr>
              <a:t>Chart </a:t>
            </a:r>
            <a:r>
              <a:rPr lang="en-US" sz="4400" b="1" dirty="0">
                <a:latin typeface="Times New Roman" pitchFamily="18" charset="0"/>
                <a:cs typeface="Times New Roman" pitchFamily="18" charset="0"/>
              </a:rPr>
              <a:t>Type: Clustered Column Chart</a:t>
            </a:r>
          </a:p>
          <a:p>
            <a:pPr algn="just"/>
            <a:r>
              <a:rPr lang="en-US" sz="4400" b="1" dirty="0">
                <a:latin typeface="Times New Roman" pitchFamily="18" charset="0"/>
                <a:cs typeface="Times New Roman" pitchFamily="18" charset="0"/>
              </a:rPr>
              <a:t>Job Roles Include:</a:t>
            </a:r>
            <a:endParaRPr lang="en-US" sz="4400" dirty="0">
              <a:latin typeface="Times New Roman" pitchFamily="18" charset="0"/>
              <a:cs typeface="Times New Roman" pitchFamily="18" charset="0"/>
            </a:endParaRPr>
          </a:p>
          <a:p>
            <a:pPr algn="just"/>
            <a:r>
              <a:rPr lang="en-US" sz="4400" dirty="0">
                <a:latin typeface="Times New Roman" pitchFamily="18" charset="0"/>
                <a:cs typeface="Times New Roman" pitchFamily="18" charset="0"/>
              </a:rPr>
              <a:t>Sales Executive</a:t>
            </a:r>
          </a:p>
          <a:p>
            <a:pPr algn="just"/>
            <a:r>
              <a:rPr lang="en-US" sz="4400" dirty="0">
                <a:latin typeface="Times New Roman" pitchFamily="18" charset="0"/>
                <a:cs typeface="Times New Roman" pitchFamily="18" charset="0"/>
              </a:rPr>
              <a:t>Research Scientist</a:t>
            </a:r>
          </a:p>
          <a:p>
            <a:pPr algn="just"/>
            <a:r>
              <a:rPr lang="en-US" sz="4400" dirty="0">
                <a:latin typeface="Times New Roman" pitchFamily="18" charset="0"/>
                <a:cs typeface="Times New Roman" pitchFamily="18" charset="0"/>
              </a:rPr>
              <a:t>Laboratory Technician</a:t>
            </a:r>
          </a:p>
          <a:p>
            <a:pPr algn="just"/>
            <a:r>
              <a:rPr lang="en-US" sz="4400" dirty="0">
                <a:latin typeface="Times New Roman" pitchFamily="18" charset="0"/>
                <a:cs typeface="Times New Roman" pitchFamily="18" charset="0"/>
              </a:rPr>
              <a:t>Manufacturing Director</a:t>
            </a:r>
          </a:p>
          <a:p>
            <a:pPr algn="just"/>
            <a:r>
              <a:rPr lang="en-US" sz="4400" dirty="0">
                <a:latin typeface="Times New Roman" pitchFamily="18" charset="0"/>
                <a:cs typeface="Times New Roman" pitchFamily="18" charset="0"/>
              </a:rPr>
              <a:t>Healthcare Representative</a:t>
            </a:r>
          </a:p>
          <a:p>
            <a:pPr algn="just"/>
            <a:r>
              <a:rPr lang="en-US" sz="4400" dirty="0">
                <a:latin typeface="Times New Roman" pitchFamily="18" charset="0"/>
                <a:cs typeface="Times New Roman" pitchFamily="18" charset="0"/>
              </a:rPr>
              <a:t>Manager</a:t>
            </a:r>
          </a:p>
          <a:p>
            <a:pPr algn="just"/>
            <a:r>
              <a:rPr lang="en-US" sz="4400" dirty="0">
                <a:latin typeface="Times New Roman" pitchFamily="18" charset="0"/>
                <a:cs typeface="Times New Roman" pitchFamily="18" charset="0"/>
              </a:rPr>
              <a:t>Research Director</a:t>
            </a:r>
          </a:p>
          <a:p>
            <a:pPr algn="just"/>
            <a:r>
              <a:rPr lang="en-US" sz="4400" dirty="0">
                <a:latin typeface="Times New Roman" pitchFamily="18" charset="0"/>
                <a:cs typeface="Times New Roman" pitchFamily="18" charset="0"/>
              </a:rPr>
              <a:t>Sales Representative</a:t>
            </a:r>
          </a:p>
          <a:p>
            <a:pPr algn="just"/>
            <a:r>
              <a:rPr lang="en-US" sz="4400" dirty="0">
                <a:latin typeface="Times New Roman" pitchFamily="18" charset="0"/>
                <a:cs typeface="Times New Roman" pitchFamily="18" charset="0"/>
              </a:rPr>
              <a:t>Human Resources</a:t>
            </a:r>
          </a:p>
          <a:p>
            <a:pPr marL="0" indent="0" algn="just">
              <a:buNone/>
            </a:pPr>
            <a:r>
              <a:rPr lang="en-US" sz="4400" b="1" dirty="0" smtClean="0">
                <a:latin typeface="Times New Roman" pitchFamily="18" charset="0"/>
                <a:cs typeface="Times New Roman" pitchFamily="18" charset="0"/>
              </a:rPr>
              <a:t> Explanation:</a:t>
            </a:r>
            <a:endParaRPr lang="en-US" sz="4400" b="1" dirty="0">
              <a:latin typeface="Times New Roman" pitchFamily="18" charset="0"/>
              <a:cs typeface="Times New Roman" pitchFamily="18" charset="0"/>
            </a:endParaRPr>
          </a:p>
          <a:p>
            <a:pPr algn="just"/>
            <a:r>
              <a:rPr lang="en-US" sz="4400" dirty="0">
                <a:latin typeface="Times New Roman" pitchFamily="18" charset="0"/>
                <a:cs typeface="Times New Roman" pitchFamily="18" charset="0"/>
              </a:rPr>
              <a:t>This chart compares the </a:t>
            </a:r>
            <a:r>
              <a:rPr lang="en-US" sz="4400" b="1" dirty="0">
                <a:latin typeface="Times New Roman" pitchFamily="18" charset="0"/>
                <a:cs typeface="Times New Roman" pitchFamily="18" charset="0"/>
              </a:rPr>
              <a:t>number of active employees across different job roles</a:t>
            </a:r>
            <a:r>
              <a:rPr lang="en-US" sz="4400" dirty="0">
                <a:latin typeface="Times New Roman" pitchFamily="18" charset="0"/>
                <a:cs typeface="Times New Roman" pitchFamily="18" charset="0"/>
              </a:rPr>
              <a:t>.</a:t>
            </a:r>
          </a:p>
          <a:p>
            <a:endParaRPr lang="en-IN"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0303" t="33696" r="38788" b="26150"/>
          <a:stretch/>
        </p:blipFill>
        <p:spPr>
          <a:xfrm>
            <a:off x="3995936" y="2348880"/>
            <a:ext cx="4655127" cy="2808312"/>
          </a:xfrm>
          <a:prstGeom prst="rect">
            <a:avLst/>
          </a:prstGeom>
        </p:spPr>
      </p:pic>
    </p:spTree>
    <p:extLst>
      <p:ext uri="{BB962C8B-B14F-4D97-AF65-F5344CB8AC3E}">
        <p14:creationId xmlns:p14="http://schemas.microsoft.com/office/powerpoint/2010/main" val="2988463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b="1" dirty="0">
                <a:latin typeface="Times New Roman" pitchFamily="18" charset="0"/>
                <a:cs typeface="Times New Roman" pitchFamily="18" charset="0"/>
              </a:rPr>
              <a:t>Column Chart – Business Travel Frequency Wise Total Employee</a:t>
            </a:r>
            <a:br>
              <a:rPr lang="en-US" sz="3200" b="1" dirty="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84784"/>
            <a:ext cx="8229600" cy="4839816"/>
          </a:xfrm>
        </p:spPr>
        <p:txBody>
          <a:bodyPr>
            <a:normAutofit/>
          </a:bodyPr>
          <a:lstStyle/>
          <a:p>
            <a:pPr algn="just"/>
            <a:r>
              <a:rPr lang="en-US" sz="2400" b="1" dirty="0" smtClean="0">
                <a:latin typeface="Times New Roman" pitchFamily="18" charset="0"/>
                <a:cs typeface="Times New Roman" pitchFamily="18" charset="0"/>
              </a:rPr>
              <a:t>Total </a:t>
            </a:r>
            <a:r>
              <a:rPr lang="en-US" sz="2400" b="1" dirty="0">
                <a:latin typeface="Times New Roman" pitchFamily="18" charset="0"/>
                <a:cs typeface="Times New Roman" pitchFamily="18" charset="0"/>
              </a:rPr>
              <a:t>Employee</a:t>
            </a:r>
          </a:p>
          <a:p>
            <a:pPr algn="just"/>
            <a:r>
              <a:rPr lang="en-US" sz="2400" b="1" dirty="0" smtClean="0">
                <a:latin typeface="Times New Roman" pitchFamily="18" charset="0"/>
                <a:cs typeface="Times New Roman" pitchFamily="18" charset="0"/>
              </a:rPr>
              <a:t>Chart </a:t>
            </a:r>
            <a:r>
              <a:rPr lang="en-US" sz="2400" b="1" dirty="0">
                <a:latin typeface="Times New Roman" pitchFamily="18" charset="0"/>
                <a:cs typeface="Times New Roman" pitchFamily="18" charset="0"/>
              </a:rPr>
              <a:t>Type: Column Chart</a:t>
            </a:r>
          </a:p>
          <a:p>
            <a:pPr algn="just"/>
            <a:r>
              <a:rPr lang="en-US" sz="2400" b="1" dirty="0">
                <a:latin typeface="Times New Roman" pitchFamily="18" charset="0"/>
                <a:cs typeface="Times New Roman" pitchFamily="18" charset="0"/>
              </a:rPr>
              <a:t>Travel Frequency Categories:</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Travel Rarely</a:t>
            </a:r>
          </a:p>
          <a:p>
            <a:pPr algn="just"/>
            <a:r>
              <a:rPr lang="en-US" sz="2400" dirty="0">
                <a:latin typeface="Times New Roman" pitchFamily="18" charset="0"/>
                <a:cs typeface="Times New Roman" pitchFamily="18" charset="0"/>
              </a:rPr>
              <a:t>Travel Frequently</a:t>
            </a:r>
          </a:p>
          <a:p>
            <a:pPr algn="just"/>
            <a:r>
              <a:rPr lang="en-US" sz="2400" dirty="0">
                <a:latin typeface="Times New Roman" pitchFamily="18" charset="0"/>
                <a:cs typeface="Times New Roman" pitchFamily="18" charset="0"/>
              </a:rPr>
              <a:t>Non-Travel</a:t>
            </a:r>
          </a:p>
          <a:p>
            <a:pPr algn="just"/>
            <a:r>
              <a:rPr lang="en-US" sz="2400" b="1" dirty="0" smtClean="0">
                <a:latin typeface="Times New Roman" pitchFamily="18" charset="0"/>
                <a:cs typeface="Times New Roman" pitchFamily="18" charset="0"/>
              </a:rPr>
              <a:t> Explanation:</a:t>
            </a:r>
            <a:endParaRPr lang="en-US" sz="2400" b="1"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Shows how employees are distributed based on how often they travel for business.</a:t>
            </a:r>
          </a:p>
          <a:p>
            <a:endParaRPr lang="en-IN"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3181" t="21299" r="53637" b="34504"/>
          <a:stretch/>
        </p:blipFill>
        <p:spPr>
          <a:xfrm>
            <a:off x="4932040" y="1556791"/>
            <a:ext cx="3821304" cy="2592000"/>
          </a:xfrm>
          <a:prstGeom prst="rect">
            <a:avLst/>
          </a:prstGeom>
        </p:spPr>
      </p:pic>
    </p:spTree>
    <p:extLst>
      <p:ext uri="{BB962C8B-B14F-4D97-AF65-F5344CB8AC3E}">
        <p14:creationId xmlns:p14="http://schemas.microsoft.com/office/powerpoint/2010/main" val="18041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2800" b="1" dirty="0">
                <a:latin typeface="Times New Roman" pitchFamily="18" charset="0"/>
                <a:cs typeface="Times New Roman" pitchFamily="18" charset="0"/>
              </a:rPr>
              <a:t>THE PROBLEMS SATEMENT QUESTIONS WITH </a:t>
            </a:r>
            <a:r>
              <a:rPr lang="en-IN" sz="2800" b="1" dirty="0" smtClean="0">
                <a:latin typeface="Times New Roman" pitchFamily="18" charset="0"/>
                <a:cs typeface="Times New Roman" pitchFamily="18" charset="0"/>
              </a:rPr>
              <a:t>EXPLANATIONS</a:t>
            </a:r>
            <a:r>
              <a:rPr lang="en-IN" sz="2800" b="1" dirty="0">
                <a:latin typeface="Times New Roman" pitchFamily="18" charset="0"/>
                <a:cs typeface="Times New Roman" pitchFamily="18" charset="0"/>
              </a:rPr>
              <a:t/>
            </a:r>
            <a:br>
              <a:rPr lang="en-IN" sz="2800" b="1" dirty="0">
                <a:latin typeface="Times New Roman" pitchFamily="18" charset="0"/>
                <a:cs typeface="Times New Roman" pitchFamily="18" charset="0"/>
              </a:rPr>
            </a:br>
            <a:endParaRPr lang="en-IN"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56792"/>
            <a:ext cx="8229600" cy="4767808"/>
          </a:xfrm>
        </p:spPr>
        <p:txBody>
          <a:bodyPr>
            <a:normAutofit fontScale="25000" lnSpcReduction="20000"/>
          </a:bodyPr>
          <a:lstStyle/>
          <a:p>
            <a:pPr marL="0" indent="0">
              <a:buNone/>
            </a:pPr>
            <a:endParaRPr lang="en-IN" b="1" dirty="0"/>
          </a:p>
          <a:p>
            <a:pPr marL="0" indent="0" algn="just">
              <a:buNone/>
            </a:pPr>
            <a:r>
              <a:rPr lang="en-IN" sz="8000" dirty="0">
                <a:latin typeface="Times New Roman" pitchFamily="18" charset="0"/>
                <a:cs typeface="Times New Roman" pitchFamily="18" charset="0"/>
              </a:rPr>
              <a:t>1.What is the average monthly income of employees?</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               This question calculates the average monthly income of all employees. It helps understand the organization’s overall salary structure and compensation level.</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 </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2. What percentage of employees are not due for promotion?</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                This identifies the percentage of employees who are currently not eligible for promotion. It helps HR assess workforce readiness for career growth and development.</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 </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3. What is the average monthly pay rate?</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          This measures the average monthly pay rate across employees, helping evaluate pay consistency and fairness within the organization.</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 </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4. What percentage of employees are due for promotion?</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            This shows the proportion of employees eligible for promotion, supporting HR planning for promotions, leadership development, and succession management.</a:t>
            </a:r>
            <a:endParaRPr lang="en-IN" sz="8000" b="1" dirty="0">
              <a:latin typeface="Times New Roman" pitchFamily="18" charset="0"/>
              <a:cs typeface="Times New Roman" pitchFamily="18" charset="0"/>
            </a:endParaRPr>
          </a:p>
          <a:p>
            <a:pPr marL="0" indent="0" algn="just">
              <a:buNone/>
            </a:pPr>
            <a:r>
              <a:rPr lang="en-IN" sz="8000" dirty="0">
                <a:latin typeface="Times New Roman" pitchFamily="18" charset="0"/>
                <a:cs typeface="Times New Roman" pitchFamily="18" charset="0"/>
              </a:rPr>
              <a:t> </a:t>
            </a:r>
            <a:endParaRPr lang="en-IN" sz="8000" b="1" dirty="0">
              <a:latin typeface="Times New Roman" pitchFamily="18" charset="0"/>
              <a:cs typeface="Times New Roman" pitchFamily="18" charset="0"/>
            </a:endParaRPr>
          </a:p>
        </p:txBody>
      </p:sp>
    </p:spTree>
    <p:extLst>
      <p:ext uri="{BB962C8B-B14F-4D97-AF65-F5344CB8AC3E}">
        <p14:creationId xmlns:p14="http://schemas.microsoft.com/office/powerpoint/2010/main" val="236241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1052736"/>
            <a:ext cx="8229600" cy="5271864"/>
          </a:xfrm>
        </p:spPr>
        <p:txBody>
          <a:bodyPr>
            <a:normAutofit fontScale="77500" lnSpcReduction="20000"/>
          </a:bodyPr>
          <a:lstStyle/>
          <a:p>
            <a:pPr marL="0" indent="0" algn="just">
              <a:buNone/>
            </a:pPr>
            <a:r>
              <a:rPr lang="en-IN" dirty="0">
                <a:latin typeface="Times New Roman" pitchFamily="18" charset="0"/>
                <a:cs typeface="Times New Roman" pitchFamily="18" charset="0"/>
              </a:rPr>
              <a:t>5. What is the average salary hike?</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This calculates the average increase in employee salaries over time. It reflects the company’s reward strategy and its impact on employee motivation and retention.</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6. What is the environment satisfaction rating out of 5?</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This measures how satisfied employees are with their work environment on a scale of 1 to 5. It helps evaluate workplace conditions and employee morale.</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7. How many total employees are there in the organization?</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This provides the total headcount of employees. It is a key metric for workforce size, planning, and resource allocation.</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8. What is the attrition count?</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This shows the total number of employees who have left the organization. It helps HR understand employee turnover volume.</a:t>
            </a:r>
            <a:endParaRPr lang="en-IN" b="1" dirty="0">
              <a:latin typeface="Times New Roman" pitchFamily="18" charset="0"/>
              <a:cs typeface="Times New Roman" pitchFamily="18" charset="0"/>
            </a:endParaRPr>
          </a:p>
          <a:p>
            <a:pPr marL="0" indent="0">
              <a:buNone/>
            </a:pPr>
            <a:r>
              <a:rPr lang="en-IN" dirty="0"/>
              <a:t> </a:t>
            </a:r>
            <a:endParaRPr lang="en-IN" b="1" dirty="0"/>
          </a:p>
          <a:p>
            <a:pPr marL="0" indent="0">
              <a:buNone/>
            </a:pPr>
            <a:endParaRPr lang="en-IN" b="1" dirty="0"/>
          </a:p>
          <a:p>
            <a:endParaRPr lang="en-IN" dirty="0"/>
          </a:p>
        </p:txBody>
      </p:sp>
    </p:spTree>
    <p:extLst>
      <p:ext uri="{BB962C8B-B14F-4D97-AF65-F5344CB8AC3E}">
        <p14:creationId xmlns:p14="http://schemas.microsoft.com/office/powerpoint/2010/main" val="325289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80728"/>
            <a:ext cx="8229600" cy="5343872"/>
          </a:xfrm>
        </p:spPr>
        <p:txBody>
          <a:bodyPr>
            <a:normAutofit fontScale="77500" lnSpcReduction="20000"/>
          </a:bodyPr>
          <a:lstStyle/>
          <a:p>
            <a:pPr marL="0" indent="0" algn="just">
              <a:buNone/>
            </a:pPr>
            <a:r>
              <a:rPr lang="en-IN" dirty="0">
                <a:latin typeface="Times New Roman" pitchFamily="18" charset="0"/>
                <a:cs typeface="Times New Roman" pitchFamily="18" charset="0"/>
              </a:rPr>
              <a:t>9. What is the attrition rate?</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This calculates the percentage of employees who left the organization during a specific period. </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10. What is the average age of employees?</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This determines the average age of the workforce, helping </a:t>
            </a:r>
            <a:r>
              <a:rPr lang="en-IN" dirty="0" err="1">
                <a:latin typeface="Times New Roman" pitchFamily="18" charset="0"/>
                <a:cs typeface="Times New Roman" pitchFamily="18" charset="0"/>
              </a:rPr>
              <a:t>analyze</a:t>
            </a:r>
            <a:r>
              <a:rPr lang="en-IN" dirty="0">
                <a:latin typeface="Times New Roman" pitchFamily="18" charset="0"/>
                <a:cs typeface="Times New Roman" pitchFamily="18" charset="0"/>
              </a:rPr>
              <a:t> employee demographics and plan future hiring and succession strategies.</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11. What is the distribution of employees by job satisfaction category?</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This </a:t>
            </a:r>
            <a:r>
              <a:rPr lang="en-IN" dirty="0" err="1">
                <a:latin typeface="Times New Roman" pitchFamily="18" charset="0"/>
                <a:cs typeface="Times New Roman" pitchFamily="18" charset="0"/>
              </a:rPr>
              <a:t>analyzes</a:t>
            </a:r>
            <a:r>
              <a:rPr lang="en-IN" dirty="0">
                <a:latin typeface="Times New Roman" pitchFamily="18" charset="0"/>
                <a:cs typeface="Times New Roman" pitchFamily="18" charset="0"/>
              </a:rPr>
              <a:t> how employees are distributed across different job satisfaction levels (low, medium, high). It helps identify areas of dissatisfaction that may impact performance or attrition.</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12. What is the distribution of employees by travel range?</a:t>
            </a:r>
            <a:endParaRPr lang="en-IN" b="1"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                  This shows employee distribution based on travel distance to work. It helps assess whether long commuting distances influence job satisfaction or attrition.</a:t>
            </a:r>
            <a:endParaRPr lang="en-IN" b="1" dirty="0">
              <a:latin typeface="Times New Roman" pitchFamily="18" charset="0"/>
              <a:cs typeface="Times New Roman" pitchFamily="18" charset="0"/>
            </a:endParaRPr>
          </a:p>
          <a:p>
            <a:pPr marL="0" indent="0" algn="just">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016150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80728"/>
            <a:ext cx="8229600" cy="5343872"/>
          </a:xfrm>
        </p:spPr>
        <p:txBody>
          <a:bodyPr>
            <a:normAutofit/>
          </a:bodyPr>
          <a:lstStyle/>
          <a:p>
            <a:pPr marL="0" indent="0" algn="just">
              <a:buNone/>
            </a:pPr>
            <a:r>
              <a:rPr lang="en-IN" sz="2400" dirty="0">
                <a:latin typeface="Times New Roman" pitchFamily="18" charset="0"/>
                <a:cs typeface="Times New Roman" pitchFamily="18" charset="0"/>
              </a:rPr>
              <a:t>13. What is the distribution of employees by job role?</a:t>
            </a:r>
            <a:endParaRPr lang="en-IN" sz="2400" b="1" dirty="0">
              <a:latin typeface="Times New Roman" pitchFamily="18" charset="0"/>
              <a:cs typeface="Times New Roman" pitchFamily="18" charset="0"/>
            </a:endParaRPr>
          </a:p>
          <a:p>
            <a:pPr marL="0" indent="0" algn="just">
              <a:buNone/>
            </a:pPr>
            <a:r>
              <a:rPr lang="en-IN" sz="2400" dirty="0">
                <a:latin typeface="Times New Roman" pitchFamily="18" charset="0"/>
                <a:cs typeface="Times New Roman" pitchFamily="18" charset="0"/>
              </a:rPr>
              <a:t>           This </a:t>
            </a:r>
            <a:r>
              <a:rPr lang="en-IN" sz="2400" dirty="0" err="1">
                <a:latin typeface="Times New Roman" pitchFamily="18" charset="0"/>
                <a:cs typeface="Times New Roman" pitchFamily="18" charset="0"/>
              </a:rPr>
              <a:t>analyzes</a:t>
            </a:r>
            <a:r>
              <a:rPr lang="en-IN" sz="2400" dirty="0">
                <a:latin typeface="Times New Roman" pitchFamily="18" charset="0"/>
                <a:cs typeface="Times New Roman" pitchFamily="18" charset="0"/>
              </a:rPr>
              <a:t> how employees are spread across different job roles. It supports workforce planning and role-based performance analysis.</a:t>
            </a:r>
            <a:endParaRPr lang="en-IN" sz="2400" b="1" dirty="0">
              <a:latin typeface="Times New Roman" pitchFamily="18" charset="0"/>
              <a:cs typeface="Times New Roman" pitchFamily="18" charset="0"/>
            </a:endParaRPr>
          </a:p>
          <a:p>
            <a:pPr marL="0" indent="0" algn="just">
              <a:buNone/>
            </a:pPr>
            <a:r>
              <a:rPr lang="en-IN" sz="2400" dirty="0">
                <a:latin typeface="Times New Roman" pitchFamily="18" charset="0"/>
                <a:cs typeface="Times New Roman" pitchFamily="18" charset="0"/>
              </a:rPr>
              <a:t> </a:t>
            </a:r>
            <a:endParaRPr lang="en-IN" sz="2400" b="1" dirty="0">
              <a:latin typeface="Times New Roman" pitchFamily="18" charset="0"/>
              <a:cs typeface="Times New Roman" pitchFamily="18" charset="0"/>
            </a:endParaRPr>
          </a:p>
          <a:p>
            <a:pPr marL="0" indent="0" algn="just">
              <a:buNone/>
            </a:pPr>
            <a:r>
              <a:rPr lang="en-IN" sz="2400" dirty="0">
                <a:latin typeface="Times New Roman" pitchFamily="18" charset="0"/>
                <a:cs typeface="Times New Roman" pitchFamily="18" charset="0"/>
              </a:rPr>
              <a:t>14. What is the distribution of employees based on business travel frequency?</a:t>
            </a:r>
            <a:endParaRPr lang="en-IN" sz="2400" b="1" dirty="0">
              <a:latin typeface="Times New Roman" pitchFamily="18" charset="0"/>
              <a:cs typeface="Times New Roman" pitchFamily="18" charset="0"/>
            </a:endParaRPr>
          </a:p>
          <a:p>
            <a:pPr marL="0" indent="0" algn="just">
              <a:buNone/>
            </a:pPr>
            <a:r>
              <a:rPr lang="en-IN" sz="2400" dirty="0">
                <a:latin typeface="Times New Roman" pitchFamily="18" charset="0"/>
                <a:cs typeface="Times New Roman" pitchFamily="18" charset="0"/>
              </a:rPr>
              <a:t>           This shows how often employees travel for work (rarely, frequently, or not at all). It helps understand the impact of business travel on work-life balance and employee retention.</a:t>
            </a:r>
            <a:endParaRPr lang="en-IN" sz="2400" b="1"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1808004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itchFamily="18" charset="0"/>
                <a:cs typeface="Times New Roman" pitchFamily="18" charset="0"/>
              </a:rPr>
              <a:t>Conclusion</a:t>
            </a:r>
            <a:br>
              <a:rPr lang="en-IN" sz="3200" b="1" dirty="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dirty="0"/>
              <a:t> </a:t>
            </a:r>
            <a:r>
              <a:rPr lang="en-IN" sz="2600" dirty="0">
                <a:latin typeface="Times New Roman" pitchFamily="18" charset="0"/>
                <a:cs typeface="Times New Roman" pitchFamily="18" charset="0"/>
              </a:rPr>
              <a:t>The HR Analytics dashboard provides a comprehensive view of workforce dynamics and highlights critical factors affecting employee performance and retention. By leveraging Power BI and data-driven insights, HR teams can proactively address attrition risks, improve job satisfaction, and optimize workforce planning. This project demonstrates how analytics can transform raw HR data into meaningful insights that support strategic and operational HR decisions.</a:t>
            </a:r>
          </a:p>
        </p:txBody>
      </p:sp>
    </p:spTree>
    <p:extLst>
      <p:ext uri="{BB962C8B-B14F-4D97-AF65-F5344CB8AC3E}">
        <p14:creationId xmlns:p14="http://schemas.microsoft.com/office/powerpoint/2010/main" val="2824658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7999"/>
          </a:xfrm>
        </p:spPr>
      </p:pic>
    </p:spTree>
    <p:extLst>
      <p:ext uri="{BB962C8B-B14F-4D97-AF65-F5344CB8AC3E}">
        <p14:creationId xmlns:p14="http://schemas.microsoft.com/office/powerpoint/2010/main" val="35783851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280</TotalTime>
  <Words>929</Words>
  <Application>Microsoft Office PowerPoint</Application>
  <PresentationFormat>On-screen Show (4:3)</PresentationFormat>
  <Paragraphs>185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Flow</vt:lpstr>
      <vt:lpstr> TVS EMPLOYEE PERFROMANCE AND JOB SATISFATION IN HR ANALYSIS DASHBOARD</vt:lpstr>
      <vt:lpstr>CONTENTS</vt:lpstr>
      <vt:lpstr>INTRODUCTION</vt:lpstr>
      <vt:lpstr>Problem Statement </vt:lpstr>
      <vt:lpstr>DATASET OVERVIEW </vt:lpstr>
      <vt:lpstr>Technology Used &amp; Data Transformation Steps </vt:lpstr>
      <vt:lpstr>Data Transformation Steps: </vt:lpstr>
      <vt:lpstr>Data Modeling </vt:lpstr>
      <vt:lpstr>KPI Summary </vt:lpstr>
      <vt:lpstr>Charts Used in the Dashboard</vt:lpstr>
      <vt:lpstr>Pie Chart – Category Wise Employee Job Satisfaction </vt:lpstr>
      <vt:lpstr>Waterfall Chart – Total Staff by Travel Range </vt:lpstr>
      <vt:lpstr>Clustered Column Chart – Total Active Employee by Job Role </vt:lpstr>
      <vt:lpstr>Column Chart – Business Travel Frequency Wise Total Employee </vt:lpstr>
      <vt:lpstr>THE PROBLEMS SATEMENT QUESTIONS WITH EXPLANATIONS </vt:lpstr>
      <vt:lpstr>PowerPoint Presentation</vt:lpstr>
      <vt:lpstr>PowerPoint Presentation</vt:lpstr>
      <vt:lpstr>PowerPoint Presentation</vt:lpstr>
      <vt:lpstr>Conclusion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 R</dc:creator>
  <cp:lastModifiedBy>LENOVO R</cp:lastModifiedBy>
  <cp:revision>23</cp:revision>
  <dcterms:created xsi:type="dcterms:W3CDTF">2026-02-04T10:25:40Z</dcterms:created>
  <dcterms:modified xsi:type="dcterms:W3CDTF">2026-02-06T15:23:03Z</dcterms:modified>
</cp:coreProperties>
</file>